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109728" cy="6858000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BD8F0"/>
                </a:solidFill>
                <a:latin typeface="Microsoft YaHei"/>
                <a:ea typeface="Microsoft YaHei"/>
              </a:rPr>
              <a:t>PDCA · 持续质量改进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FFFFFF"/>
                </a:solidFill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9788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49B3B"/>
                </a:solidFill>
                <a:latin typeface="Microsoft YaHei"/>
                <a:ea typeface="Microsoft YaHei"/>
              </a:rPr>
              <a:t>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BD8F0"/>
                </a:solidFill>
                <a:latin typeface="Microsoft YaHei"/>
                <a:ea typeface="Microsoft YaHei"/>
              </a:rPr>
              <a:t>Quality Improvement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463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4FB5"/>
                </a:solidFill>
                <a:latin typeface="Microsoft YaHei"/>
                <a:ea typeface="Microsoft YaHei"/>
              </a:rPr>
              <a:t>医疗质量改进项目汇报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828800"/>
            <a:ext cx="6583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F2A5C"/>
                </a:solidFill>
                <a:latin typeface="Microsoft YaHei"/>
                <a:ea typeface="Microsoft YaHei"/>
              </a:rPr>
              <a:t>提升理疗防烫伤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0F2A5C"/>
                </a:solidFill>
                <a:latin typeface="Microsoft YaHei"/>
                <a:ea typeface="Microsoft YaHei"/>
              </a:rPr>
              <a:t>健康宣教知晓率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3703320"/>
            <a:ext cx="457200" cy="54864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38404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4FB5"/>
                </a:solidFill>
                <a:latin typeface="Microsoft YaHei"/>
                <a:ea typeface="Microsoft YaHei"/>
              </a:rPr>
              <a:t>PLAN · DO · CHECK · 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20624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</a:rPr>
              <a:t>PDCA 循环管理 · 全周期安全升级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5212080"/>
            <a:ext cx="6583680" cy="9144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5212080"/>
            <a:ext cx="73152" cy="914400"/>
          </a:xfrm>
          <a:prstGeom prst="rect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5285232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6B7280"/>
                </a:solidFill>
                <a:latin typeface="Microsoft YaHei"/>
                <a:ea typeface="Microsoft YaHei"/>
              </a:rPr>
              <a:t>汇报科室 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康复医学科 / 护理部 / 质量管理办公室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6B7280"/>
                </a:solidFill>
                <a:latin typeface="Microsoft YaHei"/>
                <a:ea typeface="Microsoft YaHei"/>
              </a:rPr>
              <a:t>汇报日期 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2026 年 5 月 27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565392"/>
            <a:ext cx="1109441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提升理疗防烫伤健康宣教知晓率 · PDCA 持续质量改进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01  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2A5C"/>
                </a:solidFill>
                <a:latin typeface="Microsoft YaHei"/>
                <a:ea typeface="Microsoft YaHei"/>
              </a:rPr>
              <a:t>现状堪忧：理疗相关烫伤事件不容忽视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17320"/>
            <a:ext cx="1051560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理疗（红外线、热敷、蜡疗等）是康复治疗的重要手段，但因操作不规范、设备使用不当或患者自身感觉减退，导致的烫伤事件屡见不鲜，已成为医疗安全管理中不可忽视的潜在风险。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4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3611880" cy="41148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49B3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70048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风险居高不下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3154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康复科艾灸及热疗相关烫伤发生率长期处于高位，基层机构与居家场景中安全事故仍时有发生。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60604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606040"/>
            <a:ext cx="3611880" cy="41148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670048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49B3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670048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脆弱群体易感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46120"/>
            <a:ext cx="3154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糖尿病、脑卒中、脊髓损伤及老年患者因感觉迟钝，对温度感知滞后，是主要受害者。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60604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2606040"/>
            <a:ext cx="3611880" cy="41148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670048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49B3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670048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低温烫伤深远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246120"/>
            <a:ext cx="3154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创面深、愈合慢、易感染，延长住院周期、增加医疗成本，甚至引发医疗纠纷。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00600"/>
            <a:ext cx="73152" cy="1417320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80060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81D25"/>
                </a:solidFill>
                <a:latin typeface="Microsoft YaHei"/>
                <a:ea typeface="Microsoft YaHei"/>
              </a:rPr>
              <a:t>真实警示案例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120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0F2A5C"/>
                </a:solidFill>
                <a:latin typeface="Microsoft YaHei"/>
                <a:ea typeface="Microsoft YaHei"/>
              </a:rPr>
              <a:t>案例一 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62 岁老年患者自行用吹风机高温直吹右踝，造成 Ⅲ 度低温烫伤，住院 32 天。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0F2A5C"/>
                </a:solidFill>
                <a:latin typeface="Microsoft YaHei"/>
                <a:ea typeface="Microsoft YaHei"/>
              </a:rPr>
              <a:t>案例二 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糖尿病患者无指导下使用理疗仪处理富贵包，颈背出现 10×10 cm 深度溃疡，愈合极困难。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565392"/>
            <a:ext cx="1109441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提升理疗防烫伤健康宣教知晓率 · PDCA 持续质量改进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02  问题分析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2A5C"/>
                </a:solidFill>
                <a:latin typeface="Microsoft YaHei"/>
                <a:ea typeface="Microsoft YaHei"/>
              </a:rPr>
              <a:t>核心痛点：宣教不足与认知缺失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17320"/>
            <a:ext cx="1051560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4FB5"/>
                </a:solidFill>
                <a:latin typeface="Microsoft YaHei"/>
                <a:ea typeface="Microsoft YaHei"/>
              </a:rPr>
              <a:t>对标高标准：医疗规范的刚性要求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45720" cy="914400"/>
          </a:xfrm>
          <a:prstGeom prst="rect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2A5C"/>
                </a:solidFill>
                <a:latin typeface="Microsoft YaHei"/>
                <a:ea typeface="Microsoft YaHei"/>
              </a:rPr>
              <a:t>评审标准红线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96312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保障患者安全，从制度源头减少因宣教缺位导致的不良临床事件。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46120"/>
            <a:ext cx="45720" cy="914400"/>
          </a:xfrm>
          <a:prstGeom prst="rect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2A5C"/>
                </a:solidFill>
                <a:latin typeface="Microsoft YaHei"/>
                <a:ea typeface="Microsoft YaHei"/>
              </a:rPr>
              <a:t>安全目标导向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93592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强调医患有效沟通，确保患方清晰理解康复方案的风险与注意事项。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43400"/>
            <a:ext cx="45720" cy="914400"/>
          </a:xfrm>
          <a:prstGeom prst="rect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2A5C"/>
                </a:solidFill>
                <a:latin typeface="Microsoft YaHei"/>
                <a:ea typeface="Microsoft YaHei"/>
              </a:rPr>
              <a:t>专业指南遵循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90872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落实《康复治疗安全风险防控指南》，必须执行充分的安全教育流程。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81D25"/>
                </a:solidFill>
                <a:latin typeface="Microsoft YaHei"/>
                <a:ea typeface="Microsoft YaHei"/>
              </a:rPr>
              <a:t>现实挑战：执行层面的落地断层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148840"/>
            <a:ext cx="5394960" cy="713232"/>
          </a:xfrm>
          <a:prstGeom prst="roundRect">
            <a:avLst>
              <a:gd name="adj" fmla="val 20000"/>
            </a:avLst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22199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81D25"/>
                </a:solidFill>
                <a:latin typeface="Microsoft YaHei"/>
                <a:ea typeface="Microsoft YaHei"/>
              </a:rPr>
              <a:t>×  宣教形式僵化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2402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依赖口头告知，缺乏标准化、可视化的图文或视频材料。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990088"/>
            <a:ext cx="5394960" cy="713232"/>
          </a:xfrm>
          <a:prstGeom prst="roundRect">
            <a:avLst>
              <a:gd name="adj" fmla="val 20000"/>
            </a:avLst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0632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81D25"/>
                </a:solidFill>
                <a:latin typeface="Microsoft YaHei"/>
                <a:ea typeface="Microsoft YaHei"/>
              </a:rPr>
              <a:t>×  介入时机错位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08152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常在治疗繁忙时段突击宣教，信息接收效果差。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831336"/>
            <a:ext cx="5394960" cy="713232"/>
          </a:xfrm>
          <a:prstGeom prst="roundRect">
            <a:avLst>
              <a:gd name="adj" fmla="val 20000"/>
            </a:avLst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90448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81D25"/>
                </a:solidFill>
                <a:latin typeface="Microsoft YaHei"/>
                <a:ea typeface="Microsoft YaHei"/>
              </a:rPr>
              <a:t>×  患者认知盲区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92277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对低温烫伤机制理解不足，存在侥幸心理。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672584"/>
            <a:ext cx="5394960" cy="713232"/>
          </a:xfrm>
          <a:prstGeom prst="roundRect">
            <a:avLst>
              <a:gd name="adj" fmla="val 20000"/>
            </a:avLst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745736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81D25"/>
                </a:solidFill>
                <a:latin typeface="Microsoft YaHei"/>
                <a:ea typeface="Microsoft YaHei"/>
              </a:rPr>
              <a:t>×  效果闭环断裂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76402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缺乏量化评估工具，无法确认是否真正掌握。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669280"/>
            <a:ext cx="11247120" cy="77724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779008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5C"/>
                </a:solidFill>
                <a:latin typeface="Microsoft YaHei"/>
                <a:ea typeface="Microsoft YaHei"/>
              </a:rPr>
              <a:t>↳  行业规范已将安全教育划定清晰底线，必须将 “被动告知” 转变为 “主动保障”。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565392"/>
            <a:ext cx="1109441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提升理疗防烫伤健康宣教知晓率 · PDCA 持续质量改进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03  根因分析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2A5C"/>
                </a:solidFill>
                <a:latin typeface="Microsoft YaHei"/>
                <a:ea typeface="Microsoft YaHei"/>
              </a:rPr>
              <a:t>追根溯源：理疗烫伤为何发生？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17320"/>
            <a:ext cx="1051560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55321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1280160" cy="1874519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M · 人员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D49B3B"/>
                </a:solidFill>
                <a:latin typeface="Microsoft YaHei"/>
                <a:ea typeface="Microsoft YaHei"/>
              </a:rPr>
              <a:t>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011680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· 宣教意识不强、培训不规范、评估流于形式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651760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· 患方健康素养差异，存侥幸心理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5321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1280160" cy="1874519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1488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M · 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517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D49B3B"/>
                </a:solidFill>
                <a:latin typeface="Microsoft YaHei"/>
                <a:ea typeface="Microsoft YaHei"/>
              </a:rPr>
              <a:t>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2011680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· 形式单一，仅靠口头告知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2651760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· 缺图文/视频，缺量化评估问卷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2191"/>
            <a:ext cx="55321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22191"/>
            <a:ext cx="1280160" cy="1874519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87951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M · 环境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90871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D49B3B"/>
                </a:solidFill>
                <a:latin typeface="Microsoft YaHei"/>
                <a:ea typeface="Microsoft YaHei"/>
              </a:rPr>
              <a:t>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050791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· 治疗区繁忙，缺独立安静宣教空间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690871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· 嘈杂影响沟通效率与信息完整度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822191"/>
            <a:ext cx="55321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822191"/>
            <a:ext cx="1280160" cy="1874519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4187951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M · 物料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690871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D49B3B"/>
                </a:solidFill>
                <a:latin typeface="Microsoft YaHei"/>
                <a:ea typeface="Microsoft YaHei"/>
              </a:rPr>
              <a:t>Material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4050791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· 缺统一规范的防烫伤宣教手册/视频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4690871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· 专业性过强，缺乏生活化案例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715000"/>
            <a:ext cx="11247120" cy="7315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82472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9B3B"/>
                </a:solidFill>
                <a:latin typeface="Microsoft YaHei"/>
                <a:ea typeface="Microsoft YaHei"/>
              </a:rPr>
              <a:t>核心症结洞察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09904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宣教形式单一 + 效果评估缺失 = 风险闭环断裂；需从标准化工具、流程优化、环境改造三方面同步发力。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565392"/>
            <a:ext cx="1109441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提升理疗防烫伤健康宣教知晓率 · PDCA 持续质量改进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04  目标设定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2A5C"/>
                </a:solidFill>
                <a:latin typeface="Microsoft YaHei"/>
                <a:ea typeface="Microsoft YaHei"/>
              </a:rPr>
              <a:t>明确目标：基于 SMART 原则的安全升级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17320"/>
            <a:ext cx="1051560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通过 PDCA 循环管理，系统提升理疗患者对防烫伤核心知识的全面知晓率，建立标准化安全防护流程，显著降低理疗相关烫伤（特别是低温烫伤）的发生率，实现 “零非预期烫伤” 的安全愿景。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2212848" cy="68580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D49B3B"/>
                </a:solidFill>
                <a:latin typeface="Microsoft YaHei"/>
                <a:ea typeface="Microsoft YaHei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2212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Specific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2212848" cy="2103120"/>
          </a:xfrm>
          <a:prstGeom prst="rect">
            <a:avLst/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4FB5"/>
                </a:solidFill>
                <a:latin typeface="Microsoft YaHei"/>
                <a:ea typeface="Microsoft YaHei"/>
              </a:rPr>
              <a:t>聚焦核心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清晰掌握安全注意事项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重点锁定低温烫伤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制定专项预防与处置标准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52928" y="2606040"/>
            <a:ext cx="2212848" cy="68580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52928" y="2651760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D49B3B"/>
                </a:solidFill>
                <a:latin typeface="Microsoft YaHei"/>
                <a:ea typeface="Microsoft YaHei"/>
              </a:rP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3063240"/>
            <a:ext cx="2212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Measurable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52928" y="3291840"/>
            <a:ext cx="2212848" cy="2103120"/>
          </a:xfrm>
          <a:prstGeom prst="rect">
            <a:avLst/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35808" y="338328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4FB5"/>
                </a:solidFill>
                <a:latin typeface="Microsoft YaHei"/>
                <a:ea typeface="Microsoft YaHei"/>
              </a:rPr>
              <a:t>可量化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370332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知晓率 65% → 95%+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425196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烫伤不良事件下降 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5808" y="480060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问卷合格率量化考核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57216" y="2606040"/>
            <a:ext cx="2212848" cy="68580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57216" y="2651760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D49B3B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7216" y="3063240"/>
            <a:ext cx="2212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Achievable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57216" y="3291840"/>
            <a:ext cx="2212848" cy="2103120"/>
          </a:xfrm>
          <a:prstGeom prst="rect">
            <a:avLst/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0096" y="338328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4FB5"/>
                </a:solidFill>
                <a:latin typeface="Microsoft YaHei"/>
                <a:ea typeface="Microsoft YaHei"/>
              </a:rPr>
              <a:t>可达成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0096" y="370332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依托现有医疗资源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0096" y="425196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图文 SOP + 多媒体材料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0096" y="480060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全员专项操作培训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61504" y="2606040"/>
            <a:ext cx="2212848" cy="68580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61504" y="2651760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D49B3B"/>
                </a:solidFill>
                <a:latin typeface="Microsoft YaHei"/>
                <a:ea typeface="Microsoft YaHei"/>
              </a:rPr>
              <a:t>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1504" y="3063240"/>
            <a:ext cx="2212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Relevant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61504" y="3291840"/>
            <a:ext cx="2212848" cy="2103120"/>
          </a:xfrm>
          <a:prstGeom prst="rect">
            <a:avLst/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44384" y="338328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4FB5"/>
                </a:solidFill>
                <a:latin typeface="Microsoft YaHei"/>
                <a:ea typeface="Microsoft YaHei"/>
              </a:rPr>
              <a:t>相关价值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44384" y="370332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以患者安全为中心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44384" y="425196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符合等级医院评审规范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44384" y="480060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提升服务质量与运营安全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65792" y="2606040"/>
            <a:ext cx="2212848" cy="68580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65792" y="2651760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D49B3B"/>
                </a:solidFill>
                <a:latin typeface="Microsoft YaHei"/>
                <a:ea typeface="Microsoft YaHei"/>
              </a:rPr>
              <a:t>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65792" y="3063240"/>
            <a:ext cx="2212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Time-bound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65792" y="3291840"/>
            <a:ext cx="2212848" cy="2103120"/>
          </a:xfrm>
          <a:prstGeom prst="rect">
            <a:avLst/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48672" y="338328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4FB5"/>
                </a:solidFill>
                <a:latin typeface="Microsoft YaHei"/>
                <a:ea typeface="Microsoft YaHei"/>
              </a:rPr>
              <a:t>有时限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48672" y="370332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3 个月完整 PDCA 循环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48672" y="425196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明确阶段里程碑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48672" y="4800600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按时保质达成目标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669280"/>
            <a:ext cx="11247120" cy="77724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779008"/>
            <a:ext cx="28117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知晓率目标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035040"/>
            <a:ext cx="28117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C81D25"/>
                </a:solidFill>
                <a:latin typeface="Microsoft YaHei"/>
                <a:ea typeface="Microsoft YaHei"/>
              </a:rPr>
              <a:t>95%+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360420" y="5760720"/>
            <a:ext cx="0" cy="59436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360420" y="5779008"/>
            <a:ext cx="28117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不良事件下降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60420" y="6035040"/>
            <a:ext cx="28117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C81D25"/>
                </a:solidFill>
                <a:latin typeface="Microsoft YaHei"/>
                <a:ea typeface="Microsoft YaHei"/>
              </a:rPr>
              <a:t>50%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172200" y="5760720"/>
            <a:ext cx="0" cy="59436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172200" y="5779008"/>
            <a:ext cx="28117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执行周期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2200" y="6035040"/>
            <a:ext cx="28117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C81D25"/>
                </a:solidFill>
                <a:latin typeface="Microsoft YaHei"/>
                <a:ea typeface="Microsoft YaHei"/>
              </a:rPr>
              <a:t>3 个月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983980" y="5760720"/>
            <a:ext cx="0" cy="59436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983980" y="5779008"/>
            <a:ext cx="28117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培训覆盖率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3980" y="6035040"/>
            <a:ext cx="28117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C81D25"/>
                </a:solidFill>
                <a:latin typeface="Microsoft YaHei"/>
                <a:ea typeface="Microsoft YaHei"/>
              </a:rPr>
              <a:t>100%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565392"/>
            <a:ext cx="1109441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提升理疗防烫伤健康宣教知晓率 · PDCA 持续质量改进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05  改进策略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2A5C"/>
                </a:solidFill>
                <a:latin typeface="Microsoft YaHei"/>
                <a:ea typeface="Microsoft YaHei"/>
              </a:rPr>
              <a:t>群策群力：四大改进方向协同发力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17320"/>
            <a:ext cx="1051560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55321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914400" cy="2103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D49B3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CBD8F0"/>
                </a:solidFill>
                <a:latin typeface="Microsoft YaHei"/>
                <a:ea typeface="Microsoft YaHei"/>
              </a:rPr>
              <a:t>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87452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2A5C"/>
                </a:solidFill>
                <a:latin typeface="Microsoft YaHei"/>
                <a:ea typeface="Microsoft YaHei"/>
              </a:rPr>
              <a:t>宣教内容与形式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240280"/>
            <a:ext cx="4251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标准化工具包 + 多元化互动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60604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图文手册 / 科普短视频 / 情景卡片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97180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口头 + 视频 + 实操 + 提问 四维模式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33756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专业知识 → 患者易懂、易记、易用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691640"/>
            <a:ext cx="55321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691640"/>
            <a:ext cx="914400" cy="2103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3317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D49B3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017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CBD8F0"/>
                </a:solidFill>
                <a:latin typeface="Microsoft YaHei"/>
                <a:ea typeface="Microsoft YaHei"/>
              </a:rP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187452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2A5C"/>
                </a:solidFill>
                <a:latin typeface="Microsoft YaHei"/>
                <a:ea typeface="Microsoft YaHei"/>
              </a:rPr>
              <a:t>宣教流程与时机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240280"/>
            <a:ext cx="4251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SOP 化操作 + 黄金窗口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60604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《理疗防烫伤健康宣教 SOP》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97180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治疗前 15-20 分钟黄金干预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33756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独立区域，一对一专项指导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77640"/>
            <a:ext cx="55321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977640"/>
            <a:ext cx="914400" cy="2103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6177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D49B3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03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CBD8F0"/>
                </a:solidFill>
                <a:latin typeface="Microsoft YaHei"/>
                <a:ea typeface="Microsoft YaHei"/>
              </a:rPr>
              <a:t>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16052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2A5C"/>
                </a:solidFill>
                <a:latin typeface="Microsoft YaHei"/>
                <a:ea typeface="Microsoft YaHei"/>
              </a:rPr>
              <a:t>医护人员培训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4526280"/>
            <a:ext cx="4251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全员赋能 + 绩效闭环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489204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新版 SOP + 跨年龄沟通技巧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25780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风险快速评估方法轮训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62356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宣教质量纳入绩效考核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977640"/>
            <a:ext cx="55321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3977640"/>
            <a:ext cx="914400" cy="2103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46177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D49B3B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303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CBD8F0"/>
                </a:solidFill>
                <a:latin typeface="Microsoft YaHei"/>
                <a:ea typeface="Microsoft YaHei"/>
              </a:rPr>
              <a:t>STRATEGY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416052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2A5C"/>
                </a:solidFill>
                <a:latin typeface="Microsoft YaHei"/>
                <a:ea typeface="Microsoft YaHei"/>
              </a:rPr>
              <a:t>效果评估机制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4526280"/>
            <a:ext cx="4251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即时验证 + 持续改进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489204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《防烫伤知识知晓率问卷》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525780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宣教后与治疗结束前测评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562356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· 执行 - 评估 - 优化 PDCA 闭环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565392"/>
            <a:ext cx="1109441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提升理疗防烫伤健康宣教知晓率 · PDCA 持续质量改进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06  实施路径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2A5C"/>
                </a:solidFill>
                <a:latin typeface="Microsoft YaHei"/>
                <a:ea typeface="Microsoft YaHei"/>
              </a:rPr>
              <a:t>明确分工与时间表：把措施落到实处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17320"/>
            <a:ext cx="1051560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4FB5"/>
                </a:solidFill>
                <a:latin typeface="Microsoft YaHei"/>
                <a:ea typeface="Microsoft YaHei"/>
              </a:rPr>
              <a:t>组织保障 · 关键角色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164592" cy="164592"/>
          </a:xfrm>
          <a:prstGeom prst="rect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2A5C"/>
                </a:solidFill>
                <a:latin typeface="Microsoft YaHei"/>
                <a:ea typeface="Microsoft YaHei"/>
              </a:rPr>
              <a:t>项目负责人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148840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统筹规划、跨部门协调、对落地效果负总责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61488"/>
            <a:ext cx="164592" cy="164592"/>
          </a:xfrm>
          <a:prstGeom prst="rect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1576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2A5C"/>
                </a:solidFill>
                <a:latin typeface="Microsoft YaHei"/>
                <a:ea typeface="Microsoft YaHei"/>
              </a:rPr>
              <a:t>康复科护士长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715768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主导制定 SOP，组织培训，监督执行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28416"/>
            <a:ext cx="164592" cy="164592"/>
          </a:xfrm>
          <a:prstGeom prst="rect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8269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2A5C"/>
                </a:solidFill>
                <a:latin typeface="Microsoft YaHei"/>
                <a:ea typeface="Microsoft YaHei"/>
              </a:rPr>
              <a:t>康复治疗师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282696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参与方案开发，融入安全要点提醒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95344"/>
            <a:ext cx="164592" cy="164592"/>
          </a:xfrm>
          <a:prstGeom prst="rect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4962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2A5C"/>
                </a:solidFill>
                <a:latin typeface="Microsoft YaHei"/>
                <a:ea typeface="Microsoft YaHei"/>
              </a:rPr>
              <a:t>护理骨干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849624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宣教包一线实施，问卷发放回收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62272"/>
            <a:ext cx="164592" cy="164592"/>
          </a:xfrm>
          <a:prstGeom prst="rect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1655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2A5C"/>
                </a:solidFill>
                <a:latin typeface="Microsoft YaHei"/>
                <a:ea typeface="Microsoft YaHei"/>
              </a:rPr>
              <a:t>质控科干事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416552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数据收集、统计分析、效果评估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29200"/>
            <a:ext cx="164592" cy="164592"/>
          </a:xfrm>
          <a:prstGeom prst="rect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9834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2A5C"/>
                </a:solidFill>
                <a:latin typeface="Microsoft YaHei"/>
                <a:ea typeface="Microsoft YaHei"/>
              </a:rPr>
              <a:t>信息科 / 宣传科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983480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视频拍摄、图文设计、可视化呈现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4FB5"/>
                </a:solidFill>
                <a:latin typeface="Microsoft YaHei"/>
                <a:ea typeface="Microsoft YaHei"/>
              </a:rPr>
              <a:t>12 周推进计划</a:t>
            </a:r>
          </a:p>
        </p:txBody>
      </p:sp>
      <p:sp>
        <p:nvSpPr>
          <p:cNvPr id="30" name="Oval 29"/>
          <p:cNvSpPr/>
          <p:nvPr/>
        </p:nvSpPr>
        <p:spPr>
          <a:xfrm>
            <a:off x="6446520" y="2240280"/>
            <a:ext cx="365760" cy="365760"/>
          </a:xfrm>
          <a:prstGeom prst="ellipse">
            <a:avLst/>
          </a:prstGeom>
          <a:solidFill>
            <a:srgbClr val="C81D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240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1945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4FB5"/>
                </a:solidFill>
                <a:latin typeface="Microsoft YaHei"/>
                <a:ea typeface="Microsoft YaHei"/>
              </a:rPr>
              <a:t>W1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4688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2A5C"/>
                </a:solidFill>
                <a:latin typeface="Microsoft YaHei"/>
                <a:ea typeface="Microsoft YaHei"/>
              </a:rPr>
              <a:t>筹备期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方案细化、宣教视频与图文物料制作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629400" y="2606040"/>
            <a:ext cx="0" cy="50292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446520" y="3154680"/>
            <a:ext cx="365760" cy="365760"/>
          </a:xfrm>
          <a:prstGeom prst="ellipse">
            <a:avLst/>
          </a:prstGeom>
          <a:solidFill>
            <a:srgbClr val="C81D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154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3108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4FB5"/>
                </a:solidFill>
                <a:latin typeface="Microsoft YaHei"/>
                <a:ea typeface="Microsoft YaHei"/>
              </a:rPr>
              <a:t>W2-3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383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2A5C"/>
                </a:solidFill>
                <a:latin typeface="Microsoft YaHei"/>
                <a:ea typeface="Microsoft YaHei"/>
              </a:rPr>
              <a:t>赋能期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657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全员培训、发布执行 SOP、统一标准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629400" y="3520440"/>
            <a:ext cx="0" cy="50292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446520" y="4069080"/>
            <a:ext cx="365760" cy="365760"/>
          </a:xfrm>
          <a:prstGeom prst="ellipse">
            <a:avLst/>
          </a:prstGeom>
          <a:solidFill>
            <a:srgbClr val="C81D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069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0233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4FB5"/>
                </a:solidFill>
                <a:latin typeface="Microsoft YaHei"/>
                <a:ea typeface="Microsoft YaHei"/>
              </a:rPr>
              <a:t>W4-10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2976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2A5C"/>
                </a:solidFill>
                <a:latin typeface="Microsoft YaHei"/>
                <a:ea typeface="Microsoft YaHei"/>
              </a:rPr>
              <a:t>执行期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572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新流程全面落地、一线规范执行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629400" y="4434840"/>
            <a:ext cx="0" cy="50292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446520" y="4983480"/>
            <a:ext cx="365760" cy="365760"/>
          </a:xfrm>
          <a:prstGeom prst="ellipse">
            <a:avLst/>
          </a:prstGeom>
          <a:solidFill>
            <a:srgbClr val="C81D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4983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4937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4FB5"/>
                </a:solidFill>
                <a:latin typeface="Microsoft YaHei"/>
                <a:ea typeface="Microsoft YaHei"/>
              </a:rPr>
              <a:t>W11-12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5212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2A5C"/>
                </a:solidFill>
                <a:latin typeface="Microsoft YaHei"/>
                <a:ea typeface="Microsoft YaHei"/>
              </a:rPr>
              <a:t>结项期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5486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数据复盘、效果评估、输出报告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760720"/>
            <a:ext cx="11247120" cy="713232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587044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5C"/>
                </a:solidFill>
                <a:latin typeface="Microsoft YaHei"/>
                <a:ea typeface="Microsoft YaHei"/>
              </a:rPr>
              <a:t>↳  全员培训覆盖率 100% / 现场督导整改率 100%，把 “防烫伤” 融入每一次理疗服务。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565392"/>
            <a:ext cx="1109441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提升理疗防烫伤健康宣教知晓率 · PDCA 持续质量改进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07  问题应对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2A5C"/>
                </a:solidFill>
                <a:latin typeface="Microsoft YaHei"/>
                <a:ea typeface="Microsoft YaHei"/>
              </a:rPr>
              <a:t>攻坚克难：把阻力变成改进契机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17320"/>
            <a:ext cx="1051560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247120" cy="128016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137160" cy="1280160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8308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81D25"/>
                </a:solidFill>
                <a:latin typeface="Microsoft YaHei"/>
                <a:ea typeface="Microsoft YaHei"/>
              </a:rPr>
              <a:t>挑战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57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2A5C"/>
                </a:solidFill>
                <a:latin typeface="Microsoft YaHei"/>
                <a:ea typeface="Microsoft YaHei"/>
              </a:rPr>
              <a:t>人员协作难题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688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项目初期工作量增加，部分护士因节奏改变产生抵触情绪。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148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1E4FB5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783080"/>
            <a:ext cx="7863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破局对策  ·  管理优化 + 激励并行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103120"/>
            <a:ext cx="7863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加强沟通疏导，优化排班；宣教质量纳入月度绩效考核，正向激励。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08960"/>
            <a:ext cx="11247120" cy="128016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108960"/>
            <a:ext cx="137160" cy="1280160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20040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81D25"/>
                </a:solidFill>
                <a:latin typeface="Microsoft YaHei"/>
                <a:ea typeface="Microsoft YaHei"/>
              </a:rPr>
              <a:t>挑战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474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2A5C"/>
                </a:solidFill>
                <a:latin typeface="Microsoft YaHei"/>
                <a:ea typeface="Microsoft YaHei"/>
              </a:rPr>
              <a:t>老年沟通障碍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88620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目标人群中大量老年患者视力不佳，常规手册字体偏小，理解度差。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566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1E4FB5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200400"/>
            <a:ext cx="7863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破局对策  ·  适老化 + 人性化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520440"/>
            <a:ext cx="7863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紧急改版大字版手册；增加一对一讲解环节，放慢语速、耐心解答。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26280"/>
            <a:ext cx="11247120" cy="128016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526280"/>
            <a:ext cx="137160" cy="1280160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61772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81D25"/>
                </a:solidFill>
                <a:latin typeface="Microsoft YaHei"/>
                <a:ea typeface="Microsoft YaHei"/>
              </a:rPr>
              <a:t>挑战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892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2A5C"/>
                </a:solidFill>
                <a:latin typeface="Microsoft YaHei"/>
                <a:ea typeface="Microsoft YaHei"/>
              </a:rPr>
              <a:t>设备设施限制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30352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宣教视频需配合治疗同步观看，但部分治疗室缺乏固定播放设备。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983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1E4FB5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617720"/>
            <a:ext cx="7863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破局对策  ·  移动化硬件升级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937760"/>
            <a:ext cx="7863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协调信息科为每个治疗室配备可移动触控平板，适配流动服务场景。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565392"/>
            <a:ext cx="1109441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提升理疗防烫伤健康宣教知晓率 · PDCA 持续质量改进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08  改进成效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2A5C"/>
                </a:solidFill>
                <a:latin typeface="Microsoft YaHei"/>
                <a:ea typeface="Microsoft YaHei"/>
              </a:rPr>
              <a:t>成果显著：核心指标全面改善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17320"/>
            <a:ext cx="1051560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553212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E4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5532120" cy="45720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7452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患者安全知识知晓率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改善前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6B7280"/>
                </a:solidFill>
                <a:latin typeface="Microsoft YaHei"/>
                <a:ea typeface="Microsoft YaHei"/>
              </a:rPr>
              <a:t>65%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68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C81D25"/>
                </a:solidFill>
                <a:latin typeface="Microsoft YaHei"/>
                <a:ea typeface="Microsoft YaHei"/>
              </a:rPr>
              <a:t>改善后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7889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C81D25"/>
                </a:solidFill>
                <a:latin typeface="Microsoft YaHei"/>
                <a:ea typeface="Microsoft YaHei"/>
              </a:rPr>
              <a:t>96.2%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743200"/>
            <a:ext cx="960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D49B3B"/>
                </a:solidFill>
                <a:latin typeface="Microsoft YaHei"/>
                <a:ea typeface="Microsoft YaHei"/>
              </a:rPr>
              <a:t>+31.2pp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5759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合格率大幅提升，远超 95% 预设目标，标志患者理解已达理想水平。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83080"/>
            <a:ext cx="553212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81D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783080"/>
            <a:ext cx="5532120" cy="457200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87452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理疗相关烫伤不良事件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同期历史发生数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78892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6B7280"/>
                </a:solidFill>
                <a:latin typeface="Microsoft YaHei"/>
                <a:ea typeface="Microsoft YaHei"/>
              </a:rPr>
              <a:t>X 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468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C81D25"/>
                </a:solidFill>
                <a:latin typeface="Microsoft YaHei"/>
                <a:ea typeface="Microsoft YaHei"/>
              </a:rPr>
              <a:t>本期实际发生数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78892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C81D25"/>
                </a:solidFill>
                <a:latin typeface="Microsoft YaHei"/>
                <a:ea typeface="Microsoft YaHei"/>
              </a:rPr>
              <a:t>0 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65759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标准化流程 + 主动干预，消除烫伤隐患，实现阶段性零事故管理目标。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348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5C"/>
                </a:solidFill>
                <a:latin typeface="Microsoft YaHei"/>
                <a:ea typeface="Microsoft YaHei"/>
              </a:rPr>
              <a:t>关键发现：安全距离 / 禁止自行调节温度 等知识点掌握度提升最显著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463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</a:rPr>
              <a:t>改善前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4846320"/>
            <a:ext cx="7315200" cy="36576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4846320"/>
            <a:ext cx="4754880" cy="3657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846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B7280"/>
                </a:solidFill>
                <a:latin typeface="Microsoft YaHei"/>
                <a:ea typeface="Microsoft YaHei"/>
              </a:rPr>
              <a:t>65%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492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81D25"/>
                </a:solidFill>
                <a:latin typeface="Microsoft YaHei"/>
                <a:ea typeface="Microsoft YaHei"/>
              </a:rPr>
              <a:t>改善后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5349240"/>
            <a:ext cx="7315200" cy="3657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0" y="5349240"/>
            <a:ext cx="7037222" cy="365760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57462" y="53492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81D25"/>
                </a:solidFill>
                <a:latin typeface="Microsoft YaHei"/>
                <a:ea typeface="Microsoft YaHei"/>
              </a:rPr>
              <a:t>96.2%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565392"/>
            <a:ext cx="1109441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提升理疗防烫伤健康宣教知晓率 · PDCA 持续质量改进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09  意外收获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2A5C"/>
                </a:solidFill>
                <a:latin typeface="Microsoft YaHei"/>
                <a:ea typeface="Microsoft YaHei"/>
              </a:rPr>
              <a:t>患者满意度与护理效率双提升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17320"/>
            <a:ext cx="1051560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4937760" cy="4434840"/>
          </a:xfrm>
          <a:prstGeom prst="roundRect">
            <a:avLst>
              <a:gd name="adj" fmla="val 4000"/>
            </a:avLst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1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49B3B"/>
                </a:solidFill>
                <a:latin typeface="Microsoft YaHei"/>
                <a:ea typeface="Microsoft YaHei"/>
              </a:rPr>
              <a:t>患者满意度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</a:rPr>
              <a:t>92%  →  98%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BD8F0"/>
                </a:solidFill>
                <a:latin typeface="Microsoft YaHei"/>
                <a:ea typeface="Microsoft YaHei"/>
              </a:rPr>
              <a:t>服务认可度从合格迈向卓越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BD8F0"/>
                </a:solidFill>
                <a:latin typeface="Microsoft YaHei"/>
                <a:ea typeface="Microsoft YaHei"/>
              </a:rPr>
              <a:t>患者对医疗安全的感知度与信任度同步飞跃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51960"/>
            <a:ext cx="4526280" cy="18288"/>
          </a:xfrm>
          <a:prstGeom prst="rect">
            <a:avLst/>
          </a:prstGeom>
          <a:solidFill>
            <a:srgbClr val="D4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4526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E6EEFB"/>
                </a:solidFill>
                <a:latin typeface="Microsoft YaHei"/>
                <a:ea typeface="Microsoft YaHei"/>
              </a:rPr>
              <a:t>“宣教视频一看就懂，感觉医院把我们的安全真正放在了心上，比光说管用多了！”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D49B3B"/>
                </a:solidFill>
                <a:latin typeface="Microsoft YaHei"/>
                <a:ea typeface="Microsoft YaHei"/>
              </a:rPr>
              <a:t>— 患者反馈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577840"/>
            <a:ext cx="4526280" cy="18288"/>
          </a:xfrm>
          <a:prstGeom prst="rect">
            <a:avLst/>
          </a:prstGeom>
          <a:solidFill>
            <a:srgbClr val="D4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66928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护理效率 / 安全理念 / 协同闭环同步改善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1691640"/>
            <a:ext cx="6126480" cy="132588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0" y="1691640"/>
            <a:ext cx="109728" cy="1325880"/>
          </a:xfrm>
          <a:prstGeom prst="rect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1801368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2A5C"/>
                </a:solidFill>
                <a:latin typeface="Microsoft YaHei"/>
                <a:ea typeface="Microsoft YaHei"/>
              </a:rPr>
              <a:t>流程标准化落地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1488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SOP 消除沟通歧义，压缩重复答疑耗时，让护理节奏更高效。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251460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E4FB5"/>
                </a:solidFill>
                <a:latin typeface="Microsoft YaHei"/>
                <a:ea typeface="Microsoft YaHei"/>
              </a:rPr>
              <a:t>“标准化的工具让我们的工作更从容，专业形象和自信心都得到了很大的提升。”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3154680"/>
            <a:ext cx="6126480" cy="132588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0" y="3154680"/>
            <a:ext cx="109728" cy="1325880"/>
          </a:xfrm>
          <a:prstGeom prst="rect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3264408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2A5C"/>
                </a:solidFill>
                <a:latin typeface="Microsoft YaHei"/>
                <a:ea typeface="Microsoft YaHei"/>
              </a:rPr>
              <a:t>安全理念深化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3611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“安全第一” 融入日常诊疗细节，团队风险防范意识显著增强。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397764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E4FB5"/>
                </a:solidFill>
                <a:latin typeface="Microsoft YaHei"/>
                <a:ea typeface="Microsoft YaHei"/>
              </a:rPr>
              <a:t>“现在大家更愿意主动发现隐患、上报问题，因为我们知道这是在守护患者和自己。”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4617720"/>
            <a:ext cx="6126480" cy="132588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0" y="4617720"/>
            <a:ext cx="109728" cy="1325880"/>
          </a:xfrm>
          <a:prstGeom prst="rect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97880" y="4727448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2A5C"/>
                </a:solidFill>
                <a:latin typeface="Microsoft YaHei"/>
                <a:ea typeface="Microsoft YaHei"/>
              </a:rPr>
              <a:t>协同闭环形成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0749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医护患三方共同参与安全防线，构建可持续的质量改进生态。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54406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E4FB5"/>
                </a:solidFill>
                <a:latin typeface="Microsoft YaHei"/>
                <a:ea typeface="Microsoft YaHei"/>
              </a:rPr>
              <a:t>“以患者安全为中心” 成为全员共识，注入高质量发展内在动力。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565392"/>
            <a:ext cx="1109441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提升理疗防烫伤健康宣教知晓率 · PDCA 持续质量改进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10  持续改进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2A5C"/>
                </a:solidFill>
                <a:latin typeface="Microsoft YaHei"/>
                <a:ea typeface="Microsoft YaHei"/>
              </a:rPr>
              <a:t>固化成果：让安全成为日常习惯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17320"/>
            <a:ext cx="1051560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>
                <a:solidFill>
                  <a:srgbClr val="0F2A5C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0574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5C"/>
                </a:solidFill>
                <a:latin typeface="Microsoft YaHei"/>
                <a:ea typeface="Microsoft YaHei"/>
              </a:rPr>
              <a:t>形成标准化文件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514600"/>
            <a:ext cx="914400" cy="36576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69748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将 SOP 纳入科室常规制度
统一问卷为标准评估工具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>
                <a:solidFill>
                  <a:srgbClr val="1E4FB5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574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5C"/>
                </a:solidFill>
                <a:latin typeface="Microsoft YaHei"/>
                <a:ea typeface="Microsoft YaHei"/>
              </a:rPr>
              <a:t>纳入常规培训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2514600"/>
            <a:ext cx="914400" cy="36576"/>
          </a:xfrm>
          <a:prstGeom prst="rect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69748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新护士岗前培训核心模块
在职护士年度继续教育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1480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976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>
                <a:solidFill>
                  <a:srgbClr val="C81D25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4348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5C"/>
                </a:solidFill>
                <a:latin typeface="Microsoft YaHei"/>
                <a:ea typeface="Microsoft YaHei"/>
              </a:rPr>
              <a:t>建立长效监督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4892040"/>
            <a:ext cx="914400" cy="36576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507492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护士长每周现场抽查
质控科季度专项督查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11480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2976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>
                <a:solidFill>
                  <a:srgbClr val="D49B3B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4348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5C"/>
                </a:solidFill>
                <a:latin typeface="Microsoft YaHei"/>
                <a:ea typeface="Microsoft YaHei"/>
              </a:rPr>
              <a:t>推广成功经验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4892040"/>
            <a:ext cx="914400" cy="36576"/>
          </a:xfrm>
          <a:prstGeom prst="rect">
            <a:avLst/>
          </a:prstGeom>
          <a:solidFill>
            <a:srgbClr val="D4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507492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形成典型案例全院分享
辐射更多临床科室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565392"/>
            <a:ext cx="1109441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提升理疗防烫伤健康宣教知晓率 · PDCA 持续质量改进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4FB5"/>
                </a:solidFill>
                <a:latin typeface="Microsoft YaHei"/>
                <a:ea typeface="Microsoft YaHei"/>
              </a:rPr>
              <a:t>11  反思展望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2A5C"/>
                </a:solidFill>
                <a:latin typeface="Microsoft YaHei"/>
                <a:ea typeface="Microsoft YaHei"/>
              </a:rPr>
              <a:t>反思不足，规划下一阶段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17320"/>
            <a:ext cx="1051560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81D25"/>
                </a:solidFill>
                <a:latin typeface="Microsoft YaHei"/>
                <a:ea typeface="Microsoft YaHei"/>
              </a:rPr>
              <a:t>不足与反思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109728" cy="1051560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585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2A5C"/>
                </a:solidFill>
                <a:latin typeface="Microsoft YaHei"/>
                <a:ea typeface="Microsoft YaHei"/>
              </a:rPr>
              <a:t>宣教覆盖有限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门诊理疗患者的健康宣教环节仍存在空白，需拓宽触达面。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109728" cy="1051560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472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2A5C"/>
                </a:solidFill>
                <a:latin typeface="Microsoft YaHei"/>
                <a:ea typeface="Microsoft YaHei"/>
              </a:rPr>
              <a:t>形式亟待创新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口头 + 纸质手册为主，可探索 VR / 互动式线上平台。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2628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109728" cy="1051560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3600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2A5C"/>
                </a:solidFill>
                <a:latin typeface="Microsoft YaHei"/>
                <a:ea typeface="Microsoft YaHei"/>
              </a:rPr>
              <a:t>数据深度不足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样本时间跨度和规模有限，需长周期持续监测验证。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4FB5"/>
                </a:solidFill>
                <a:latin typeface="Microsoft YaHei"/>
                <a:ea typeface="Microsoft YaHei"/>
              </a:rPr>
              <a:t>下一阶段核心目标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574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将成熟模式推广至门诊理疗，搭建线上宣教平台，实现健康管理的长效化与数字化。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063240"/>
            <a:ext cx="320040" cy="320040"/>
          </a:xfrm>
          <a:prstGeom prst="ellipse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063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017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2A5C"/>
                </a:solidFill>
                <a:latin typeface="Microsoft YaHei"/>
                <a:ea typeface="Microsoft YaHei"/>
              </a:rPr>
              <a:t>流程轻量化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3832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为门诊快节奏场景定制极简宣教流程与配套材料。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3977640"/>
            <a:ext cx="320040" cy="320040"/>
          </a:xfrm>
          <a:prstGeom prst="ellipse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9776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931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2A5C"/>
                </a:solidFill>
                <a:latin typeface="Microsoft YaHei"/>
                <a:ea typeface="Microsoft YaHei"/>
              </a:rPr>
              <a:t>数字化赋能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联合信息科开发 APP 专属宣教模块，嵌入智能指引与风险预警。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4892040"/>
            <a:ext cx="320040" cy="320040"/>
          </a:xfrm>
          <a:prstGeom prst="ellipse">
            <a:avLst/>
          </a:prstGeom>
          <a:solidFill>
            <a:srgbClr val="1E4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8920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846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2A5C"/>
                </a:solidFill>
                <a:latin typeface="Microsoft YaHei"/>
                <a:ea typeface="Microsoft YaHei"/>
              </a:rPr>
              <a:t>动态追踪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2120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建立长期数据档案，持续收集反馈并迭代方案。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760720"/>
            <a:ext cx="11247120" cy="713232"/>
          </a:xfrm>
          <a:prstGeom prst="roundRect">
            <a:avLst>
              <a:gd name="adj" fmla="val 20000"/>
            </a:avLst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87044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从 “经验” 走向 “标准”，以患者安全为中心的永续改进  ·  Thank You · 期待指导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